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685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project: a system that collects IoT sensor data over MQTT, processes it in Python, and stores it across three database types chosen by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motivation (data explosion, polyglot need) and state the concrete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pipeline left to right; emphasize that the topic decides the destination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Justify Mosquitto against the alternatives: the project needs a simple, reliable broker, not large-scale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processing chain inside the subscriber; the logic lives in core/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Polyglot persistence: each database plays to its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the 5-level graph diversity: Sensor, Gateway, Room, Location, Zone.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functional tests pass. Performance is measured live; insert your own numbers from CLI option 5 before the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what was delivered and propose concrete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1920240"/>
            <a:ext cx="1280160" cy="128016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2468880"/>
            <a:ext cx="914400" cy="9144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87782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IoT Environmental</a:t>
            </a:r>
          </a:p>
          <a:p>
            <a:pPr algn="l"/>
            <a:r>
              <a:rPr sz="4600" b="1" i="0">
                <a:solidFill>
                  <a:srgbClr val="02C39A"/>
                </a:solidFill>
                <a:latin typeface="Cambria"/>
              </a:rPr>
              <a:t>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77639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CFE8E4"/>
                </a:solidFill>
                <a:latin typeface="Calibri"/>
              </a:rPr>
              <a:t>Integrating an MQTT broker and Python for real-time big-data processing and polyglot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MySQL  ·  MongoDB  ·  Neo4j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32120"/>
            <a:ext cx="4206240" cy="1828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7150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Alex Demse</a:t>
            </a:r>
          </a:p>
          <a:p>
            <a:pPr algn="l"/>
            <a:r>
              <a:rPr sz="1300" b="0" i="0">
                <a:solidFill>
                  <a:srgbClr val="AFD4CF"/>
                </a:solidFill>
                <a:latin typeface="Calibri"/>
              </a:rPr>
              <a:t>University of Messina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Cambria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5B6B6B"/>
                </a:solidFill>
                <a:latin typeface="Calibri"/>
              </a:rPr>
              <a:t>The problem and our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4206240"/>
          </a:xfrm>
          <a:prstGeom prst="roundRect">
            <a:avLst/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9456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28090"/>
                </a:solidFill>
                <a:latin typeface="Cambria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2E2E"/>
                </a:solidFill>
                <a:latin typeface="Calibri"/>
              </a:rPr>
              <a:t>IoT adoption is growing rapidly, producing an exponential rise in sensor data.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2E2E"/>
                </a:solidFill>
                <a:latin typeface="Calibri"/>
              </a:rPr>
              <a:t>This big data must be received in real time, validated, and stored efficiently.</a:t>
            </a:r>
          </a:p>
          <a:p>
            <a:pPr algn="l"/>
            <a:r>
              <a:rPr sz="1500" b="0" i="0">
                <a:solidFill>
                  <a:srgbClr val="0F2E2E"/>
                </a:solidFill>
                <a:latin typeface="Calibri"/>
              </a:rPr>
              <a:t>No single database type fits every kind of data — readings, events, and network relationships each have different shapes.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349240" cy="4206240"/>
          </a:xfrm>
          <a:prstGeom prst="roundRect">
            <a:avLst/>
          </a:prstGeom>
          <a:solidFill>
            <a:srgbClr val="0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210312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43B3B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9456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2C39A"/>
                </a:solidFill>
                <a:latin typeface="Cambria"/>
              </a:rPr>
              <a:t>The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06324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Build an integrated MQTT + Python system that receives, processes and stores IoT data across SQL, MongoDB and Neo4j.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Route each message to the right database based on its MQTT topic.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Give the end user a simple terminal to query the stored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Cambria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5B6B6B"/>
                </a:solidFill>
                <a:latin typeface="Calibri"/>
              </a:rPr>
              <a:t>Topic-based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103120" cy="1371600"/>
          </a:xfrm>
          <a:prstGeom prst="roundRect">
            <a:avLst/>
          </a:prstGeom>
          <a:solidFill>
            <a:srgbClr val="EAF6F4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028090"/>
                </a:solidFill>
                <a:latin typeface="Calibri"/>
              </a:rPr>
              <a:t>Sensors</a:t>
            </a:r>
          </a:p>
          <a:p>
            <a:pPr algn="ctr"/>
            <a:r>
              <a:rPr sz="1200" b="0" i="0">
                <a:solidFill>
                  <a:srgbClr val="5B6B6B"/>
                </a:solidFill>
                <a:latin typeface="Calibri"/>
              </a:rPr>
              <a:t>(simulator)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2788920"/>
            <a:ext cx="502920" cy="365760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83280" y="2286000"/>
            <a:ext cx="2103120" cy="1371600"/>
          </a:xfrm>
          <a:prstGeom prst="roundRect">
            <a:avLst/>
          </a:prstGeom>
          <a:solidFill>
            <a:srgbClr val="EAF6F4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228600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028090"/>
                </a:solidFill>
                <a:latin typeface="Calibri"/>
              </a:rPr>
              <a:t>Mosquitto</a:t>
            </a:r>
          </a:p>
          <a:p>
            <a:pPr algn="ctr"/>
            <a:r>
              <a:rPr sz="1200" b="0" i="0">
                <a:solidFill>
                  <a:srgbClr val="5B6B6B"/>
                </a:solidFill>
                <a:latin typeface="Calibri"/>
              </a:rPr>
              <a:t>MQTT broker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32120" y="2788920"/>
            <a:ext cx="502920" cy="365760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26480" y="2286000"/>
            <a:ext cx="2286000" cy="1371600"/>
          </a:xfrm>
          <a:prstGeom prst="roundRect">
            <a:avLst/>
          </a:prstGeom>
          <a:solidFill>
            <a:srgbClr val="0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228600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Subscriber</a:t>
            </a:r>
          </a:p>
          <a:p>
            <a:pPr algn="ctr"/>
            <a:r>
              <a:rPr sz="1200" b="0" i="0">
                <a:solidFill>
                  <a:srgbClr val="02C39A"/>
                </a:solidFill>
                <a:latin typeface="Calibri"/>
              </a:rPr>
              <a:t>router + processing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58200" y="2788920"/>
            <a:ext cx="502920" cy="365760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052560" y="1874519"/>
            <a:ext cx="2468880" cy="749808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20" y="1874519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MongoDB</a:t>
            </a:r>
          </a:p>
          <a:p>
            <a:pPr algn="l"/>
            <a:r>
              <a:rPr sz="1100" b="0" i="0">
                <a:solidFill>
                  <a:srgbClr val="DDF2EE"/>
                </a:solidFill>
                <a:latin typeface="Calibri"/>
              </a:rPr>
              <a:t>events +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761487"/>
            <a:ext cx="2468880" cy="749808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2761487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MySQL</a:t>
            </a:r>
          </a:p>
          <a:p>
            <a:pPr algn="l"/>
            <a:r>
              <a:rPr sz="1100" b="0" i="0">
                <a:solidFill>
                  <a:srgbClr val="DDF2EE"/>
                </a:solidFill>
                <a:latin typeface="Calibri"/>
              </a:rPr>
              <a:t>valid readings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648456"/>
            <a:ext cx="2468880" cy="749808"/>
          </a:xfrm>
          <a:prstGeom prst="roundRect">
            <a:avLst/>
          </a:prstGeom>
          <a:solidFill>
            <a:srgbClr val="0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20" y="3648456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Neo4j</a:t>
            </a:r>
          </a:p>
          <a:p>
            <a:pPr algn="l"/>
            <a:r>
              <a:rPr sz="1100" b="0" i="0">
                <a:solidFill>
                  <a:srgbClr val="DDF2EE"/>
                </a:solidFill>
                <a:latin typeface="Calibri"/>
              </a:rPr>
              <a:t>network 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7772400" cy="1737360"/>
          </a:xfrm>
          <a:prstGeom prst="roundRect">
            <a:avLst/>
          </a:prstGeom>
          <a:solidFill>
            <a:srgbClr val="D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28090"/>
                </a:solidFill>
                <a:latin typeface="Cambria"/>
              </a:rPr>
              <a:t>Routing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F2E2E"/>
                </a:solidFill>
                <a:latin typeface="Calibri"/>
              </a:rPr>
              <a:t>sensors/environment  →  MongoDB  +  MySQL  (with alert generation)</a:t>
            </a:r>
          </a:p>
          <a:p>
            <a:pPr algn="l"/>
            <a:r>
              <a:rPr sz="1500" b="0" i="0">
                <a:solidFill>
                  <a:srgbClr val="0F2E2E"/>
                </a:solidFill>
                <a:latin typeface="Calibri"/>
              </a:rPr>
              <a:t>sensors/network  →  MongoDB  +  Neo4j  (graph relationships)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Cambria"/>
              </a:rPr>
              <a:t>MQTT Broker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5B6B6B"/>
                </a:solidFill>
                <a:latin typeface="Calibri"/>
              </a:rPr>
              <a:t>Selection and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120640" cy="4206240"/>
          </a:xfrm>
          <a:prstGeom prst="roundRect">
            <a:avLst/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Cambria"/>
              </a:rPr>
              <a:t>Why Eclipse Mosquitto?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0F2E2E"/>
                </a:solidFill>
                <a:latin typeface="Calibri"/>
              </a:rPr>
              <a:t>Lightweight and open source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0F2E2E"/>
                </a:solidFill>
                <a:latin typeface="Calibri"/>
              </a:rPr>
              <a:t>Runs from a single Docker image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0F2E2E"/>
                </a:solidFill>
                <a:latin typeface="Calibri"/>
              </a:rPr>
              <a:t>Well documented, quick to configure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0F2E2E"/>
                </a:solidFill>
                <a:latin typeface="Calibri"/>
              </a:rPr>
              <a:t>Ideal for development and small-to-medium IoT projects</a:t>
            </a:r>
          </a:p>
          <a:p>
            <a:pPr algn="l"/>
            <a:r>
              <a:rPr sz="1400" b="0" i="1">
                <a:solidFill>
                  <a:srgbClr val="5B6B6B"/>
                </a:solidFill>
                <a:latin typeface="Calibri"/>
              </a:rPr>
              <a:t>Connection: localhost : 1883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28800"/>
            <a:ext cx="5577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Cambria"/>
              </a:rPr>
              <a:t>Options considered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029200" cy="658368"/>
          </a:xfrm>
          <a:prstGeom prst="roundRect">
            <a:avLst/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Mosquitto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743200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0F2E2E"/>
                </a:solidFill>
                <a:latin typeface="Calibri"/>
              </a:rPr>
              <a:t>Light, simple, Docker-ready  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20440"/>
            <a:ext cx="5029200" cy="658368"/>
          </a:xfrm>
          <a:prstGeom prst="round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520440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F2E2E"/>
                </a:solidFill>
                <a:latin typeface="Calibri"/>
              </a:rPr>
              <a:t>EMQX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520440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0F2E2E"/>
                </a:solidFill>
                <a:latin typeface="Calibri"/>
              </a:rPr>
              <a:t>Highly scalable, heavier setup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029200" cy="658368"/>
          </a:xfrm>
          <a:prstGeom prst="round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F2E2E"/>
                </a:solidFill>
                <a:latin typeface="Calibri"/>
              </a:rPr>
              <a:t>HiveMQ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297680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0F2E2E"/>
                </a:solidFill>
                <a:latin typeface="Calibri"/>
              </a:rPr>
              <a:t>Enterprise, commercial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074920"/>
            <a:ext cx="5029200" cy="658368"/>
          </a:xfrm>
          <a:prstGeom prst="roundRect">
            <a:avLst/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5074920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F2E2E"/>
                </a:solidFill>
                <a:latin typeface="Calibri"/>
              </a:rPr>
              <a:t>VerneMQ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074920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0F2E2E"/>
                </a:solidFill>
                <a:latin typeface="Calibri"/>
              </a:rPr>
              <a:t>Distributed, more overhead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Cambria"/>
              </a:rPr>
              <a:t>Python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5B6B6B"/>
                </a:solidFill>
                <a:latin typeface="Calibri"/>
              </a:rPr>
              <a:t>Paho MQTT + real-time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0881360" cy="914400"/>
          </a:xfrm>
          <a:prstGeom prst="roundRect">
            <a:avLst/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30552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mbria"/>
              </a:rPr>
              <a:t>Subscribe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30552"/>
            <a:ext cx="6492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0F2E2E"/>
                </a:solidFill>
                <a:latin typeface="Calibri"/>
              </a:rPr>
              <a:t>Paho MQTT client connects and subscribes to sensors/#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35808"/>
            <a:ext cx="10881360" cy="914400"/>
          </a:xfrm>
          <a:prstGeom prst="roundRect">
            <a:avLst/>
          </a:prstGeom>
          <a:solidFill>
            <a:srgbClr val="D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321868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5468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mbria"/>
              </a:rPr>
              <a:t>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154680"/>
            <a:ext cx="6492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0F2E2E"/>
                </a:solidFill>
                <a:latin typeface="Calibri"/>
              </a:rPr>
              <a:t>Each JSON payload is parsed into a Python dictionary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59936"/>
            <a:ext cx="10881360" cy="914400"/>
          </a:xfrm>
          <a:prstGeom prst="roundRect">
            <a:avLst/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4242816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24281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17880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mbria"/>
              </a:rPr>
              <a:t>Validate &amp; normalize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178808"/>
            <a:ext cx="6492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0F2E2E"/>
                </a:solidFill>
                <a:latin typeface="Calibri"/>
              </a:rPr>
              <a:t>Range checks; location spelling unified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84064"/>
            <a:ext cx="10881360" cy="914400"/>
          </a:xfrm>
          <a:prstGeom prst="roundRect">
            <a:avLst/>
          </a:prstGeom>
          <a:solidFill>
            <a:srgbClr val="D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5266944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26694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202936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mbria"/>
              </a:rPr>
              <a:t>Enrich &amp; route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202936"/>
            <a:ext cx="6492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0F2E2E"/>
                </a:solidFill>
                <a:latin typeface="Calibri"/>
              </a:rPr>
              <a:t>Alerts generated; data sent to the right database(s)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Cambria"/>
              </a:rPr>
              <a:t>Polyglot Storage by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5B6B6B"/>
                </a:solidFill>
                <a:latin typeface="Calibri"/>
              </a:rPr>
              <a:t>The right database for each data 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0215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02152" cy="86868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50215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MongoDB</a:t>
            </a:r>
          </a:p>
          <a:p>
            <a:pPr algn="ctr"/>
            <a:r>
              <a:rPr sz="1200" b="0" i="0">
                <a:solidFill>
                  <a:srgbClr val="E6F6F3"/>
                </a:solidFill>
                <a:latin typeface="Calibri"/>
              </a:rPr>
              <a:t>Document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017520"/>
            <a:ext cx="29260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Enriched event documents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Nested readings + alerts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Full historical archive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0215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02152" cy="86868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828800"/>
            <a:ext cx="350215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MySQL</a:t>
            </a:r>
          </a:p>
          <a:p>
            <a:pPr algn="ctr"/>
            <a:r>
              <a:rPr sz="1200" b="0" i="0">
                <a:solidFill>
                  <a:srgbClr val="E6F6F3"/>
                </a:solidFill>
                <a:latin typeface="Calibri"/>
              </a:rPr>
              <a:t>Relational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9260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Validated clean readings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Structured rows for reports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Fast aggregate queries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50215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502152" cy="868680"/>
          </a:xfrm>
          <a:prstGeom prst="roundRect">
            <a:avLst/>
          </a:prstGeom>
          <a:solidFill>
            <a:srgbClr val="0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828800"/>
            <a:ext cx="350215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Neo4j</a:t>
            </a:r>
          </a:p>
          <a:p>
            <a:pPr algn="ctr"/>
            <a:r>
              <a:rPr sz="1200" b="0" i="0">
                <a:solidFill>
                  <a:srgbClr val="E6F6F3"/>
                </a:solidFill>
                <a:latin typeface="Calibri"/>
              </a:rPr>
              <a:t>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017520"/>
            <a:ext cx="29260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Sensor / Gateway nodes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Room / Location / Zone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Network relationships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Cambria"/>
              </a:rPr>
              <a:t>Network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5B6B6B"/>
                </a:solidFill>
                <a:latin typeface="Calibri"/>
              </a:rPr>
              <a:t>Five node types model the topology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0" y="2834640"/>
            <a:ext cx="2880360" cy="0"/>
          </a:xfrm>
          <a:prstGeom prst="line">
            <a:avLst/>
          </a:prstGeom>
          <a:ln w="22225">
            <a:solidFill>
              <a:srgbClr val="5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811780" y="254203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5B6B6B"/>
                </a:solidFill>
                <a:latin typeface="Calibri"/>
              </a:rPr>
              <a:t>LOCATED_IN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92040" y="2834640"/>
            <a:ext cx="3246120" cy="0"/>
          </a:xfrm>
          <a:prstGeom prst="line">
            <a:avLst/>
          </a:prstGeom>
          <a:ln w="22225">
            <a:solidFill>
              <a:srgbClr val="5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75020" y="254203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5B6B6B"/>
                </a:solidFill>
                <a:latin typeface="Calibri"/>
              </a:rPr>
              <a:t>PART_OF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38160" y="2834640"/>
            <a:ext cx="2743200" cy="0"/>
          </a:xfrm>
          <a:prstGeom prst="line">
            <a:avLst/>
          </a:prstGeom>
          <a:ln w="22225">
            <a:solidFill>
              <a:srgbClr val="5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69680" y="254203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5B6B6B"/>
                </a:solidFill>
                <a:latin typeface="Calibri"/>
              </a:rPr>
              <a:t>IN_ZONE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2834640"/>
            <a:ext cx="0" cy="2103120"/>
          </a:xfrm>
          <a:prstGeom prst="line">
            <a:avLst/>
          </a:prstGeom>
          <a:ln w="22225">
            <a:solidFill>
              <a:srgbClr val="5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31720" y="38862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5B6B6B"/>
                </a:solidFill>
                <a:latin typeface="Calibri"/>
              </a:rPr>
              <a:t>CONNECTED_TO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011680" y="2834640"/>
            <a:ext cx="6126480" cy="2103120"/>
          </a:xfrm>
          <a:prstGeom prst="line">
            <a:avLst/>
          </a:prstGeom>
          <a:ln w="22225">
            <a:solidFill>
              <a:srgbClr val="5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92040" y="42976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5B6B6B"/>
                </a:solidFill>
                <a:latin typeface="Calibri"/>
              </a:rPr>
              <a:t>SERVES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194560"/>
            <a:ext cx="1280160" cy="12801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219456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Sensor</a:t>
            </a:r>
          </a:p>
        </p:txBody>
      </p:sp>
      <p:sp>
        <p:nvSpPr>
          <p:cNvPr id="17" name="Oval 16"/>
          <p:cNvSpPr/>
          <p:nvPr/>
        </p:nvSpPr>
        <p:spPr>
          <a:xfrm>
            <a:off x="4297679" y="2240280"/>
            <a:ext cx="1188720" cy="11887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79" y="224028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Room</a:t>
            </a:r>
          </a:p>
        </p:txBody>
      </p:sp>
      <p:sp>
        <p:nvSpPr>
          <p:cNvPr id="19" name="Oval 18"/>
          <p:cNvSpPr/>
          <p:nvPr/>
        </p:nvSpPr>
        <p:spPr>
          <a:xfrm>
            <a:off x="7498080" y="2194560"/>
            <a:ext cx="1280160" cy="12801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0" y="219456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21" name="Oval 20"/>
          <p:cNvSpPr/>
          <p:nvPr/>
        </p:nvSpPr>
        <p:spPr>
          <a:xfrm>
            <a:off x="10332720" y="2286000"/>
            <a:ext cx="1097280" cy="10972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32720" y="228600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Zone</a:t>
            </a:r>
          </a:p>
        </p:txBody>
      </p:sp>
      <p:sp>
        <p:nvSpPr>
          <p:cNvPr id="23" name="Oval 22"/>
          <p:cNvSpPr/>
          <p:nvPr/>
        </p:nvSpPr>
        <p:spPr>
          <a:xfrm>
            <a:off x="1371600" y="4297680"/>
            <a:ext cx="1280160" cy="1280160"/>
          </a:xfrm>
          <a:prstGeom prst="ellipse">
            <a:avLst/>
          </a:prstGeom>
          <a:solidFill>
            <a:srgbClr val="0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429768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Gateway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806440"/>
            <a:ext cx="10881360" cy="713232"/>
          </a:xfrm>
          <a:prstGeom prst="roundRect">
            <a:avLst/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0F2E2E"/>
                </a:solidFill>
                <a:latin typeface="Calibri"/>
              </a:rPr>
              <a:t>Each sensor connects to a gateway and is placed in a room, which belongs to a location, which sits within a zone.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28090"/>
                </a:solidFill>
                <a:latin typeface="Cambria"/>
              </a:rPr>
              <a:t>Testing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5B6B6B"/>
                </a:solidFill>
                <a:latin typeface="Calibri"/>
              </a:rPr>
              <a:t>Functional tests and timing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029200" cy="4206240"/>
          </a:xfrm>
          <a:prstGeom prst="roundRect">
            <a:avLst/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Cambria"/>
              </a:rPr>
              <a:t>Functional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Reception, routing, alerts, validation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Location normalization verified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5-level graph built correctly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All CLI queries return expected data</a:t>
            </a:r>
          </a:p>
          <a:p>
            <a:pPr marL="228600" indent="-228600" algn="l">
              <a:buFont typeface="Arial"/>
              <a:buChar char="•"/>
            </a:pPr>
            <a:r>
              <a:rPr sz="1400" b="0" i="0">
                <a:solidFill>
                  <a:srgbClr val="0F2E2E"/>
                </a:solidFill>
                <a:latin typeface="Calibri"/>
              </a:rPr>
              <a:t>Data persists across restarts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828800"/>
            <a:ext cx="5669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2057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Cambria"/>
              </a:rPr>
              <a:t>Store time per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54203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B6B6B"/>
                </a:solidFill>
                <a:latin typeface="Calibri"/>
              </a:rPr>
              <a:t>Measured automatically — fill from CLI option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63240"/>
            <a:ext cx="5120640" cy="50292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306324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3063240"/>
            <a:ext cx="100583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Avg (s)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3999" y="3063240"/>
            <a:ext cx="100583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Min (s)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9" y="3063240"/>
            <a:ext cx="100583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Max (s)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566160"/>
            <a:ext cx="5120640" cy="566928"/>
          </a:xfrm>
          <a:prstGeom prst="roundRect">
            <a:avLst/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356616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2E2E"/>
                </a:solidFill>
                <a:latin typeface="Calibri"/>
              </a:rPr>
              <a:t>MongoDB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3566160"/>
            <a:ext cx="10058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0F2E2E"/>
                </a:solidFill>
                <a:latin typeface="Calibri"/>
              </a:rPr>
              <a:t>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3566160"/>
            <a:ext cx="10058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0F2E2E"/>
                </a:solidFill>
                <a:latin typeface="Calibri"/>
              </a:rPr>
              <a:t>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79" y="3566160"/>
            <a:ext cx="10058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0F2E2E"/>
                </a:solidFill>
                <a:latin typeface="Calibri"/>
              </a:rPr>
              <a:t>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133088"/>
            <a:ext cx="512064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4133088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2E2E"/>
                </a:solidFill>
                <a:latin typeface="Calibri"/>
              </a:rPr>
              <a:t>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133088"/>
            <a:ext cx="10058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0F2E2E"/>
                </a:solidFill>
                <a:latin typeface="Calibri"/>
              </a:rPr>
              <a:t>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4133088"/>
            <a:ext cx="10058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0F2E2E"/>
                </a:solidFill>
                <a:latin typeface="Calibri"/>
              </a:rPr>
              <a:t>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79" y="4133088"/>
            <a:ext cx="10058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0F2E2E"/>
                </a:solidFill>
                <a:latin typeface="Calibri"/>
              </a:rPr>
              <a:t>____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700016"/>
            <a:ext cx="5120640" cy="566928"/>
          </a:xfrm>
          <a:prstGeom prst="roundRect">
            <a:avLst/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4700016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2E2E"/>
                </a:solidFill>
                <a:latin typeface="Calibri"/>
              </a:rPr>
              <a:t>Neo4j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4700016"/>
            <a:ext cx="10058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0F2E2E"/>
                </a:solidFill>
                <a:latin typeface="Calibri"/>
              </a:rPr>
              <a:t>____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99" y="4700016"/>
            <a:ext cx="10058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0F2E2E"/>
                </a:solidFill>
                <a:latin typeface="Calibri"/>
              </a:rPr>
              <a:t>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79" y="4700016"/>
            <a:ext cx="10058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0F2E2E"/>
                </a:solidFill>
                <a:latin typeface="Calibri"/>
              </a:rPr>
              <a:t>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404104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B6B6B"/>
                </a:solidFill>
                <a:latin typeface="Calibri"/>
              </a:rPr>
              <a:t>Neo4j graph writes are typically slower than single document or row inserts.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Conclusions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94960" cy="4297680"/>
          </a:xfrm>
          <a:prstGeom prst="roundRect">
            <a:avLst/>
          </a:prstGeom>
          <a:solidFill>
            <a:srgbClr val="0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2C39A"/>
                </a:solidFill>
                <a:latin typeface="Cambria"/>
              </a:rPr>
              <a:t>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937760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MQTT + Python pipeline with Paho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Topic-based polyglot storage in 3 DBs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Validation, alerts, normalization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User CLI for queries + live monitor</a:t>
            </a:r>
            <a:r>
              <a:rPr lang="en-US" sz="1400" b="0" i="0" dirty="0">
                <a:solidFill>
                  <a:srgbClr val="FFFFFF"/>
                </a:solidFill>
                <a:latin typeface="Calibri"/>
              </a:rPr>
              <a:t> + optional(web UI)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  <a:p>
            <a:pPr marL="228600" indent="-228600" algn="l">
              <a:buFont typeface="Arial"/>
              <a:buChar char="•"/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Automatic performance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349240" cy="4297680"/>
          </a:xfrm>
          <a:prstGeom prst="roundRect">
            <a:avLst/>
          </a:prstGeom>
          <a:solidFill>
            <a:srgbClr val="0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2C39A"/>
                </a:solidFill>
                <a:latin typeface="Cambria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743200"/>
            <a:ext cx="49377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Connect real hardware sensors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Add MQTT authentication and TLS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Web dashboard with live charts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Bulk inserts for higher throughput</a:t>
            </a:r>
          </a:p>
          <a:p>
            <a:pPr marL="228600" indent="-228600" algn="l"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Calibri"/>
              </a:rPr>
              <a:t>Automated test suite +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754880" y="1828800"/>
            <a:ext cx="2651760" cy="2651760"/>
          </a:xfrm>
          <a:prstGeom prst="ellipse">
            <a:avLst/>
          </a:prstGeom>
          <a:solidFill>
            <a:srgbClr val="0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257800" y="2331720"/>
            <a:ext cx="1645920" cy="1645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466344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722</Words>
  <Application>Microsoft Office PowerPoint</Application>
  <PresentationFormat>Widescreen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Demirew</cp:lastModifiedBy>
  <cp:revision>4</cp:revision>
  <dcterms:created xsi:type="dcterms:W3CDTF">2013-01-27T09:14:16Z</dcterms:created>
  <dcterms:modified xsi:type="dcterms:W3CDTF">2026-06-28T19:36:36Z</dcterms:modified>
  <cp:category/>
</cp:coreProperties>
</file>